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3" r:id="rId3"/>
    <p:sldId id="272" r:id="rId4"/>
    <p:sldId id="264" r:id="rId5"/>
    <p:sldId id="265" r:id="rId6"/>
    <p:sldId id="266" r:id="rId7"/>
    <p:sldId id="260" r:id="rId8"/>
    <p:sldId id="259" r:id="rId9"/>
    <p:sldId id="261" r:id="rId10"/>
    <p:sldId id="263" r:id="rId11"/>
    <p:sldId id="267" r:id="rId12"/>
    <p:sldId id="274" r:id="rId13"/>
    <p:sldId id="275" r:id="rId14"/>
    <p:sldId id="276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4055933-76F6-414E-B28F-FCF22B5663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43ACA1E-15AD-49B2-B92B-7CBC6D785A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55E2C5-82E9-4BB5-A92A-1C0F48339D8F}" type="datetimeFigureOut">
              <a:rPr lang="fr-FR" smtClean="0"/>
              <a:t>23/05/2024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44644E-6B20-4855-8A6C-112FC6E605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CA8F164-56DA-4FC0-9E04-97E2BDE973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676A9-6C06-4B0C-9817-C2A2766B7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45999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B798C-0EC7-423D-940C-3F24F4CC2850}" type="datetimeFigureOut">
              <a:rPr lang="fr-FR" smtClean="0"/>
              <a:t>23/05/2024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C17C2-FA4D-4E3C-B0B5-5FBFE22136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28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ACF9FAB4-5E7D-4A9F-8BCF-998EBBB91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65E32-0B99-4CD3-9E58-BBC2DBBC9957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07D2D3B-5B63-444A-B566-E872F7E1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9C7FF77-3383-494B-97E4-4CB8A1977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0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0D19-7DB5-4823-90AA-398A830524ED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95708" y="0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A2A916-F071-4036-97E1-8F1075516BDE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5E8F4-6CC4-4959-BA23-1AE87B8B98A7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EA6B-CFA8-4E64-9B88-A9F4F4FD2934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B927-7DF6-4FF4-AC87-F52250FD12D5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80EE-B782-42E4-A9C3-40A7F096F585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68EA59-5212-4F79-ABFF-687584A9D4EE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63FA35-8381-4696-BB73-C7EE37AC6AD0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CFCCE-1928-4165-8F2F-524ECC5309AA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F789-ABE9-43FA-8E04-6A2C2C37BF6C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58D5437-ABF2-4CD7-A461-A2F8C3BA30ED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nkercad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osme/arduinoFFT/tree/v1.6.2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leze.name/marcel/physique/musique/GammeTemperee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86802C-9298-46A9-AFBA-D5540FC003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SAE2.02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041A36-CC8B-417C-9F23-61EB1497A5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Mesurer et caractériser un signal ou un système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D4B13C4-1473-489F-B413-483061E11C8F}"/>
              </a:ext>
            </a:extLst>
          </p:cNvPr>
          <p:cNvSpPr txBox="1"/>
          <p:nvPr/>
        </p:nvSpPr>
        <p:spPr>
          <a:xfrm>
            <a:off x="657225" y="5400674"/>
            <a:ext cx="5305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Laurent MURA</a:t>
            </a:r>
          </a:p>
          <a:p>
            <a:r>
              <a:rPr lang="fr-FR" dirty="0"/>
              <a:t>Stéphane WOJDYLA</a:t>
            </a:r>
          </a:p>
        </p:txBody>
      </p:sp>
    </p:spTree>
    <p:extLst>
      <p:ext uri="{BB962C8B-B14F-4D97-AF65-F5344CB8AC3E}">
        <p14:creationId xmlns:p14="http://schemas.microsoft.com/office/powerpoint/2010/main" val="7409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747770" y="247311"/>
            <a:ext cx="11270059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/>
              <a:t>Travail en </a:t>
            </a:r>
            <a:r>
              <a:rPr lang="fr-FR" sz="3200" b="1" dirty="0">
                <a:solidFill>
                  <a:srgbClr val="00B050"/>
                </a:solidFill>
              </a:rPr>
              <a:t>binôme</a:t>
            </a:r>
            <a:r>
              <a:rPr lang="fr-FR" sz="3200" dirty="0"/>
              <a:t> du </a:t>
            </a:r>
            <a:r>
              <a:rPr lang="fr-FR" sz="3200" b="1" dirty="0">
                <a:solidFill>
                  <a:srgbClr val="FF0000"/>
                </a:solidFill>
              </a:rPr>
              <a:t>même groupe de TP</a:t>
            </a:r>
          </a:p>
          <a:p>
            <a:r>
              <a:rPr lang="fr-FR" sz="3200" dirty="0"/>
              <a:t>Dans l’</a:t>
            </a:r>
            <a:r>
              <a:rPr lang="fr-FR" sz="3200" dirty="0" err="1"/>
              <a:t>EdT</a:t>
            </a:r>
            <a:r>
              <a:rPr lang="fr-FR" sz="3200" dirty="0"/>
              <a:t>, groupes TD et TP en </a:t>
            </a:r>
            <a:r>
              <a:rPr lang="fr-FR" sz="3200" dirty="0" err="1"/>
              <a:t>parralèle</a:t>
            </a:r>
            <a:r>
              <a:rPr lang="fr-FR" sz="3200" dirty="0"/>
              <a:t> </a:t>
            </a:r>
            <a:r>
              <a:rPr lang="fr-FR" sz="3200" dirty="0">
                <a:sym typeface="Wingdings" panose="05000000000000000000" pitchFamily="2" charset="2"/>
              </a:rPr>
              <a:t> pas assez de cartes Arduino UNO  </a:t>
            </a:r>
            <a:r>
              <a:rPr lang="fr-FR" sz="3200" dirty="0"/>
              <a:t>Environnement TINKERCAD:</a:t>
            </a:r>
          </a:p>
          <a:p>
            <a:endParaRPr lang="fr-FR" sz="3200" dirty="0"/>
          </a:p>
          <a:p>
            <a:pPr marL="0" indent="0" algn="ctr">
              <a:buNone/>
            </a:pPr>
            <a:r>
              <a:rPr lang="fr-FR" sz="3200" dirty="0">
                <a:hlinkClick r:id="rId2"/>
              </a:rPr>
              <a:t>https://www.tinkercad.com/</a:t>
            </a:r>
            <a:endParaRPr lang="fr-FR" sz="3200" dirty="0"/>
          </a:p>
          <a:p>
            <a:pPr marL="0" indent="0" algn="ctr">
              <a:buNone/>
            </a:pPr>
            <a:endParaRPr lang="fr-FR" sz="3200" dirty="0"/>
          </a:p>
          <a:p>
            <a:pPr marL="530352" lvl="1" indent="0">
              <a:buNone/>
            </a:pPr>
            <a:endParaRPr lang="fr-FR" sz="32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299C5C-F4C0-48E7-877E-978811A6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20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999153" y="263845"/>
            <a:ext cx="3103290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fr-FR" sz="320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FC5683-AFAF-4A16-A7AC-DB2A05D7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195FEA3-2C9A-43D3-8FF7-51638FEDF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651" y="2239798"/>
            <a:ext cx="7887878" cy="3966277"/>
          </a:xfrm>
          <a:prstGeom prst="rect">
            <a:avLst/>
          </a:prstGeom>
        </p:spPr>
      </p:pic>
      <p:sp>
        <p:nvSpPr>
          <p:cNvPr id="4" name="Sous-titre 2">
            <a:extLst>
              <a:ext uri="{FF2B5EF4-FFF2-40B4-BE49-F238E27FC236}">
                <a16:creationId xmlns:a16="http://schemas.microsoft.com/office/drawing/2014/main" id="{299B8C15-1198-46D9-6CFE-B89A5C9A50A0}"/>
              </a:ext>
            </a:extLst>
          </p:cNvPr>
          <p:cNvSpPr txBox="1">
            <a:spLocks/>
          </p:cNvSpPr>
          <p:nvPr/>
        </p:nvSpPr>
        <p:spPr>
          <a:xfrm>
            <a:off x="816745" y="247311"/>
            <a:ext cx="11270059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b="1" dirty="0">
                <a:solidFill>
                  <a:srgbClr val="00B050"/>
                </a:solidFill>
              </a:rPr>
              <a:t>PREMIERE PARTIE </a:t>
            </a:r>
            <a:r>
              <a:rPr lang="fr-FR" sz="3200" b="1" dirty="0">
                <a:solidFill>
                  <a:srgbClr val="00B0F0"/>
                </a:solidFill>
              </a:rPr>
              <a:t>[Q6]</a:t>
            </a:r>
            <a:r>
              <a:rPr lang="fr-FR" sz="3200" b="1" dirty="0">
                <a:solidFill>
                  <a:srgbClr val="00B050"/>
                </a:solidFill>
              </a:rPr>
              <a:t>: Reconnaître une note</a:t>
            </a:r>
          </a:p>
          <a:p>
            <a:r>
              <a:rPr lang="fr-FR" sz="3200" dirty="0"/>
              <a:t>Sous </a:t>
            </a:r>
            <a:r>
              <a:rPr lang="fr-FR" sz="3200" dirty="0" err="1"/>
              <a:t>Tinkercad</a:t>
            </a:r>
            <a:r>
              <a:rPr lang="fr-FR" sz="3200" dirty="0"/>
              <a:t>:</a:t>
            </a:r>
          </a:p>
          <a:p>
            <a:pPr lvl="1"/>
            <a:r>
              <a:rPr lang="fr-FR" sz="3200" dirty="0"/>
              <a:t>10 </a:t>
            </a:r>
            <a:r>
              <a:rPr lang="fr-FR" sz="3200" dirty="0" err="1"/>
              <a:t>LEDs</a:t>
            </a:r>
            <a:r>
              <a:rPr lang="fr-FR" sz="3200" dirty="0"/>
              <a:t> et résistances de </a:t>
            </a:r>
            <a:r>
              <a:rPr lang="fr-FR" sz="3200" b="1" dirty="0">
                <a:solidFill>
                  <a:srgbClr val="FF0000"/>
                </a:solidFill>
              </a:rPr>
              <a:t>180 </a:t>
            </a:r>
            <a:r>
              <a:rPr lang="el-GR" sz="3200" b="1" dirty="0">
                <a:solidFill>
                  <a:srgbClr val="FF0000"/>
                </a:solidFill>
              </a:rPr>
              <a:t>Ω</a:t>
            </a:r>
            <a:endParaRPr lang="fr-FR" sz="3200" b="1" dirty="0">
              <a:solidFill>
                <a:srgbClr val="FF0000"/>
              </a:solidFill>
            </a:endParaRPr>
          </a:p>
          <a:p>
            <a:pPr marL="530352" lvl="1" indent="0">
              <a:buNone/>
            </a:pPr>
            <a:endParaRPr lang="fr-FR" sz="3200" dirty="0"/>
          </a:p>
          <a:p>
            <a:pPr marL="530352" lvl="1" indent="0">
              <a:buNone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587832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999152" y="263845"/>
            <a:ext cx="11021397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3200" dirty="0"/>
              <a:t>On injecte une fréquence sur une des entrées analogiques de la carte Arduino UNO:</a:t>
            </a:r>
          </a:p>
          <a:p>
            <a:pPr lvl="1"/>
            <a:r>
              <a:rPr lang="fr-FR" sz="3200" dirty="0"/>
              <a:t>Entrée A0</a:t>
            </a:r>
          </a:p>
          <a:p>
            <a:pPr lvl="1"/>
            <a:r>
              <a:rPr lang="fr-FR" sz="3200" dirty="0"/>
              <a:t>Signal sinusoïdal entre 0,5 et 4,5V avec f=30 Hz</a:t>
            </a:r>
          </a:p>
          <a:p>
            <a:pPr lvl="1"/>
            <a:r>
              <a:rPr lang="fr-FR" sz="3200" dirty="0"/>
              <a:t>Programme:</a:t>
            </a:r>
          </a:p>
          <a:p>
            <a:pPr marL="530352" lvl="1" indent="0">
              <a:buNone/>
            </a:pPr>
            <a:endParaRPr lang="fr-FR" sz="3200" dirty="0"/>
          </a:p>
          <a:p>
            <a:pPr lvl="1"/>
            <a:endParaRPr lang="fr-FR" sz="32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FF0633-AA5D-40DF-9B65-0EBD00557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973" y="2423811"/>
            <a:ext cx="7906853" cy="4315427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2E3550-C2F2-469D-993D-4CA6BDBC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87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999152" y="263845"/>
            <a:ext cx="11021397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3200" dirty="0"/>
              <a:t>On injecte une fréquence sur une des entrées analogiques de la carte Arduino UNO:</a:t>
            </a:r>
          </a:p>
          <a:p>
            <a:pPr lvl="1" algn="just"/>
            <a:r>
              <a:rPr lang="fr-FR" sz="3200" b="1" dirty="0">
                <a:solidFill>
                  <a:srgbClr val="00B050"/>
                </a:solidFill>
              </a:rPr>
              <a:t>Traceur série</a:t>
            </a:r>
            <a:r>
              <a:rPr lang="fr-FR" sz="3200" dirty="0"/>
              <a:t>: sympa/rassurant mais pas évident pour déterminer la fréquence !</a:t>
            </a:r>
          </a:p>
          <a:p>
            <a:pPr marL="530352" lvl="1" indent="0">
              <a:buNone/>
            </a:pPr>
            <a:endParaRPr lang="fr-FR" sz="3200" dirty="0"/>
          </a:p>
          <a:p>
            <a:pPr lvl="1"/>
            <a:endParaRPr lang="fr-FR" sz="32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399E416-D06C-4A07-AE40-AB2EB2AD10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4" b="8582"/>
          <a:stretch/>
        </p:blipFill>
        <p:spPr>
          <a:xfrm>
            <a:off x="1857375" y="2417608"/>
            <a:ext cx="8429626" cy="4307041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4B17A0-59BD-4BA7-AC6D-44573EB77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665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999152" y="263845"/>
            <a:ext cx="11021397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3200" dirty="0"/>
              <a:t>On injecte une fréquence sur une des entrées analogiques de la carte Arduino UNO:</a:t>
            </a:r>
          </a:p>
          <a:p>
            <a:pPr lvl="1" algn="just"/>
            <a:r>
              <a:rPr lang="fr-FR" sz="3200" dirty="0"/>
              <a:t>Solution: </a:t>
            </a:r>
            <a:r>
              <a:rPr lang="fr-FR" sz="3200" dirty="0">
                <a:solidFill>
                  <a:srgbClr val="00B0F0"/>
                </a:solidFill>
              </a:rPr>
              <a:t>avoir un programme qui calcule la fréquence </a:t>
            </a:r>
            <a:r>
              <a:rPr lang="fr-FR" sz="3200" dirty="0"/>
              <a:t>: </a:t>
            </a:r>
            <a:r>
              <a:rPr lang="fr-FR" sz="3200" b="1" dirty="0">
                <a:solidFill>
                  <a:srgbClr val="00B050"/>
                </a:solidFill>
              </a:rPr>
              <a:t>FFT</a:t>
            </a:r>
            <a:r>
              <a:rPr lang="fr-FR" sz="3200" dirty="0"/>
              <a:t> (Fast Fourier </a:t>
            </a:r>
            <a:r>
              <a:rPr lang="fr-FR" sz="3200" dirty="0" err="1"/>
              <a:t>Transform</a:t>
            </a:r>
            <a:r>
              <a:rPr lang="fr-FR" sz="3200" dirty="0"/>
              <a:t>)!</a:t>
            </a:r>
          </a:p>
          <a:p>
            <a:pPr lvl="1" algn="just"/>
            <a:r>
              <a:rPr lang="fr-FR" sz="3200" dirty="0"/>
              <a:t>Pour se faire, il faudra inclure la bibliothèque « </a:t>
            </a:r>
            <a:r>
              <a:rPr lang="fr-FR" sz="3200" b="1" dirty="0" err="1">
                <a:solidFill>
                  <a:srgbClr val="00B050"/>
                </a:solidFill>
              </a:rPr>
              <a:t>arduinoFFT</a:t>
            </a:r>
            <a:r>
              <a:rPr lang="fr-FR" sz="3200" dirty="0"/>
              <a:t> » de </a:t>
            </a:r>
            <a:r>
              <a:rPr lang="fr-FR" sz="3200" dirty="0">
                <a:solidFill>
                  <a:srgbClr val="00B0F0"/>
                </a:solidFill>
              </a:rPr>
              <a:t>Enrique </a:t>
            </a:r>
            <a:r>
              <a:rPr lang="fr-FR" sz="3200" dirty="0" err="1">
                <a:solidFill>
                  <a:srgbClr val="00B0F0"/>
                </a:solidFill>
              </a:rPr>
              <a:t>Condes</a:t>
            </a:r>
            <a:r>
              <a:rPr lang="fr-FR" sz="3200" dirty="0">
                <a:solidFill>
                  <a:srgbClr val="00B0F0"/>
                </a:solidFill>
              </a:rPr>
              <a:t> </a:t>
            </a:r>
            <a:r>
              <a:rPr lang="fr-FR" sz="3200" dirty="0"/>
              <a:t>et de trouver le programme approprié d’après les exemples donnés…:</a:t>
            </a:r>
          </a:p>
          <a:p>
            <a:pPr marL="0" indent="0" algn="ctr">
              <a:buNone/>
            </a:pPr>
            <a:r>
              <a:rPr lang="fr-FR" sz="3200" i="1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https://github.com/kosme/arduinoFFT/tree/v1.6.2</a:t>
            </a:r>
            <a:endParaRPr lang="fr-FR" sz="3200" i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/>
            <a:r>
              <a:rPr lang="fr-FR" sz="3200" dirty="0"/>
              <a:t>Ensuite, on modifie le programme en le simplifiant et en adaptant les paramètres aux conditions de notre application…</a:t>
            </a:r>
          </a:p>
          <a:p>
            <a:pPr marL="530352" lvl="1" indent="0" algn="ctr">
              <a:buNone/>
            </a:pPr>
            <a:r>
              <a:rPr lang="fr-FR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 Validation Intermédiaire [VI3.1 dans Q6] !</a:t>
            </a:r>
            <a:endParaRPr lang="fr-FR" sz="3200" b="1" dirty="0">
              <a:solidFill>
                <a:srgbClr val="FF0000"/>
              </a:solidFill>
            </a:endParaRPr>
          </a:p>
          <a:p>
            <a:pPr marL="530352" lvl="1" indent="0">
              <a:buNone/>
            </a:pPr>
            <a:endParaRPr lang="fr-FR" sz="3200" dirty="0"/>
          </a:p>
          <a:p>
            <a:pPr marL="530352" lvl="1" indent="0">
              <a:buNone/>
            </a:pPr>
            <a:endParaRPr lang="fr-FR" sz="3200" dirty="0"/>
          </a:p>
          <a:p>
            <a:pPr lvl="1"/>
            <a:endParaRPr lang="fr-FR" sz="32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DB9CE3-52C5-4999-8AB4-5FE6767D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483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999152" y="263845"/>
            <a:ext cx="10679041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/>
              <a:t>Morceau de musique: « Au clair de la lune… »</a:t>
            </a:r>
          </a:p>
          <a:p>
            <a:pPr marL="530352" lvl="1" indent="0">
              <a:buNone/>
            </a:pPr>
            <a:endParaRPr lang="fr-FR" sz="3200" dirty="0"/>
          </a:p>
          <a:p>
            <a:pPr lvl="1"/>
            <a:endParaRPr lang="fr-FR" sz="32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5EE800C-2E3E-401C-94C3-D70323D13E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76548" y="827315"/>
            <a:ext cx="8638903" cy="5921827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CB3A5762-19B8-45CF-9288-A3E25E2C6B59}"/>
              </a:ext>
            </a:extLst>
          </p:cNvPr>
          <p:cNvSpPr/>
          <p:nvPr/>
        </p:nvSpPr>
        <p:spPr>
          <a:xfrm>
            <a:off x="5834743" y="1201783"/>
            <a:ext cx="444137" cy="3222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5BDCA3-7523-40B7-A036-68ABE2E6C591}"/>
              </a:ext>
            </a:extLst>
          </p:cNvPr>
          <p:cNvSpPr/>
          <p:nvPr/>
        </p:nvSpPr>
        <p:spPr>
          <a:xfrm>
            <a:off x="9120868" y="3513636"/>
            <a:ext cx="444137" cy="32221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2CB32DA-5383-4011-839E-89F91EC5B774}"/>
              </a:ext>
            </a:extLst>
          </p:cNvPr>
          <p:cNvSpPr txBox="1"/>
          <p:nvPr/>
        </p:nvSpPr>
        <p:spPr>
          <a:xfrm>
            <a:off x="1040790" y="1154668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Octave 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1FDD40C-B6AB-4B52-BBDA-4FCAA3D38C90}"/>
              </a:ext>
            </a:extLst>
          </p:cNvPr>
          <p:cNvSpPr txBox="1"/>
          <p:nvPr/>
        </p:nvSpPr>
        <p:spPr>
          <a:xfrm>
            <a:off x="10001793" y="3445534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B050"/>
                </a:solidFill>
              </a:rPr>
              <a:t>Octave 2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A9B6FA-2378-40DB-8A66-EA87E11C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58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999153" y="263845"/>
            <a:ext cx="5924162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/>
              <a:t>Note et leur fréquence:</a:t>
            </a:r>
          </a:p>
          <a:p>
            <a:pPr marL="530352" lvl="1" indent="0">
              <a:buNone/>
            </a:pPr>
            <a:endParaRPr lang="fr-FR" sz="3200" dirty="0"/>
          </a:p>
          <a:p>
            <a:pPr lvl="1"/>
            <a:endParaRPr lang="fr-FR" sz="32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43FB7DB-6DC1-4726-9D5F-00803C46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2276"/>
            <a:ext cx="12192000" cy="49825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AD1B51-D1C7-44D5-A53D-03F338B99BBA}"/>
              </a:ext>
            </a:extLst>
          </p:cNvPr>
          <p:cNvSpPr/>
          <p:nvPr/>
        </p:nvSpPr>
        <p:spPr>
          <a:xfrm>
            <a:off x="1907177" y="6534834"/>
            <a:ext cx="102848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dirty="0">
                <a:hlinkClick r:id="rId3"/>
              </a:rPr>
              <a:t>https://www.deleze.name/marcel/physique/musique/GammeTemperee.html</a:t>
            </a:r>
            <a:endParaRPr lang="fr-FR" dirty="0"/>
          </a:p>
          <a:p>
            <a:pPr algn="r"/>
            <a:endParaRPr lang="fr-FR" dirty="0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32A50DE0-2019-4A3C-AA25-19659C83D1BE}"/>
              </a:ext>
            </a:extLst>
          </p:cNvPr>
          <p:cNvSpPr/>
          <p:nvPr/>
        </p:nvSpPr>
        <p:spPr>
          <a:xfrm rot="5400000">
            <a:off x="4139852" y="862278"/>
            <a:ext cx="803338" cy="6463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B050"/>
              </a:solidFill>
            </a:endParaRP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DF9F82F1-B292-4722-90DC-F0E4614232EE}"/>
              </a:ext>
            </a:extLst>
          </p:cNvPr>
          <p:cNvSpPr/>
          <p:nvPr/>
        </p:nvSpPr>
        <p:spPr>
          <a:xfrm rot="5400000">
            <a:off x="3099177" y="861649"/>
            <a:ext cx="803338" cy="646331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8384B1A7-565F-4F4A-B808-8670F3E88C2C}"/>
              </a:ext>
            </a:extLst>
          </p:cNvPr>
          <p:cNvSpPr/>
          <p:nvPr/>
        </p:nvSpPr>
        <p:spPr>
          <a:xfrm>
            <a:off x="4089087" y="3445534"/>
            <a:ext cx="904867" cy="4484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B2A787E-E0B3-4C78-904F-257A323D3441}"/>
              </a:ext>
            </a:extLst>
          </p:cNvPr>
          <p:cNvSpPr/>
          <p:nvPr/>
        </p:nvSpPr>
        <p:spPr>
          <a:xfrm>
            <a:off x="3056367" y="4546645"/>
            <a:ext cx="904867" cy="448494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24C1E57-B5A0-4BF2-9D58-172FA6EA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519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999153" y="263845"/>
            <a:ext cx="5924162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/>
              <a:t>Note et leur fréquence:</a:t>
            </a:r>
          </a:p>
          <a:p>
            <a:pPr marL="530352" lvl="1" indent="0">
              <a:buNone/>
            </a:pPr>
            <a:endParaRPr lang="fr-FR" sz="3200" dirty="0"/>
          </a:p>
          <a:p>
            <a:pPr lvl="1"/>
            <a:endParaRPr lang="fr-FR" sz="32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43FB7DB-6DC1-4726-9D5F-00803C461B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97" r="57968"/>
          <a:stretch/>
        </p:blipFill>
        <p:spPr>
          <a:xfrm>
            <a:off x="2181769" y="1611597"/>
            <a:ext cx="2162176" cy="4982558"/>
          </a:xfrm>
          <a:prstGeom prst="rect">
            <a:avLst/>
          </a:prstGeo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32A50DE0-2019-4A3C-AA25-19659C83D1BE}"/>
              </a:ext>
            </a:extLst>
          </p:cNvPr>
          <p:cNvSpPr/>
          <p:nvPr/>
        </p:nvSpPr>
        <p:spPr>
          <a:xfrm rot="5400000">
            <a:off x="3359346" y="921599"/>
            <a:ext cx="803338" cy="646331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B050"/>
              </a:solidFill>
            </a:endParaRP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DF9F82F1-B292-4722-90DC-F0E4614232EE}"/>
              </a:ext>
            </a:extLst>
          </p:cNvPr>
          <p:cNvSpPr/>
          <p:nvPr/>
        </p:nvSpPr>
        <p:spPr>
          <a:xfrm rot="5400000">
            <a:off x="2318671" y="920970"/>
            <a:ext cx="803338" cy="6463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A308769-C051-4AC5-9009-519B5DE5C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527894"/>
              </p:ext>
            </p:extLst>
          </p:nvPr>
        </p:nvGraphicFramePr>
        <p:xfrm>
          <a:off x="5124903" y="1300842"/>
          <a:ext cx="6280506" cy="4957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0834">
                  <a:extLst>
                    <a:ext uri="{9D8B030D-6E8A-4147-A177-3AD203B41FA5}">
                      <a16:colId xmlns:a16="http://schemas.microsoft.com/office/drawing/2014/main" val="2250925430"/>
                    </a:ext>
                  </a:extLst>
                </a:gridCol>
                <a:gridCol w="2238004">
                  <a:extLst>
                    <a:ext uri="{9D8B030D-6E8A-4147-A177-3AD203B41FA5}">
                      <a16:colId xmlns:a16="http://schemas.microsoft.com/office/drawing/2014/main" val="1550834360"/>
                    </a:ext>
                  </a:extLst>
                </a:gridCol>
                <a:gridCol w="1911668">
                  <a:extLst>
                    <a:ext uri="{9D8B030D-6E8A-4147-A177-3AD203B41FA5}">
                      <a16:colId xmlns:a16="http://schemas.microsoft.com/office/drawing/2014/main" val="577344730"/>
                    </a:ext>
                  </a:extLst>
                </a:gridCol>
              </a:tblGrid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 dirty="0">
                          <a:effectLst/>
                        </a:rPr>
                        <a:t>Touche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Fréquence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 dirty="0">
                          <a:effectLst/>
                        </a:rPr>
                        <a:t>Broche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2824365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Ré2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147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1323128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Mi2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 dirty="0">
                          <a:effectLst/>
                        </a:rPr>
                        <a:t>165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3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0475531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Fa2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175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4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9131712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Sol2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196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5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952932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La2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220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6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9071071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Si2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247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7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835003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Do3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262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8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9272436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Ré3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294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9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778951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Mi3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330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 dirty="0">
                          <a:effectLst/>
                        </a:rPr>
                        <a:t>10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4723780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8A0B2EC7-666E-48A5-A1A2-3EF22A306C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1805"/>
          <a:stretch/>
        </p:blipFill>
        <p:spPr>
          <a:xfrm>
            <a:off x="1314994" y="1611597"/>
            <a:ext cx="999153" cy="4982558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D6FF7FF-A401-4AE1-8A38-1466F958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05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999152" y="263845"/>
            <a:ext cx="11021397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/>
              <a:t>Comment détecter la fréquence d’une note ?</a:t>
            </a:r>
          </a:p>
          <a:p>
            <a:pPr marL="530352" lvl="1" indent="0">
              <a:buNone/>
            </a:pPr>
            <a:endParaRPr lang="fr-FR" sz="3200" dirty="0"/>
          </a:p>
          <a:p>
            <a:pPr lvl="1"/>
            <a:endParaRPr lang="fr-FR" sz="32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43FB7DB-6DC1-4726-9D5F-00803C461B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97" r="57968"/>
          <a:stretch/>
        </p:blipFill>
        <p:spPr>
          <a:xfrm>
            <a:off x="866775" y="1552276"/>
            <a:ext cx="2162176" cy="4982558"/>
          </a:xfrm>
          <a:prstGeom prst="rect">
            <a:avLst/>
          </a:prstGeo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32A50DE0-2019-4A3C-AA25-19659C83D1BE}"/>
              </a:ext>
            </a:extLst>
          </p:cNvPr>
          <p:cNvSpPr/>
          <p:nvPr/>
        </p:nvSpPr>
        <p:spPr>
          <a:xfrm rot="5400000">
            <a:off x="2044352" y="862278"/>
            <a:ext cx="803338" cy="646331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B050"/>
              </a:solidFill>
            </a:endParaRP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DF9F82F1-B292-4722-90DC-F0E4614232EE}"/>
              </a:ext>
            </a:extLst>
          </p:cNvPr>
          <p:cNvSpPr/>
          <p:nvPr/>
        </p:nvSpPr>
        <p:spPr>
          <a:xfrm rot="5400000">
            <a:off x="1003677" y="861649"/>
            <a:ext cx="803338" cy="6463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A308769-C051-4AC5-9009-519B5DE5C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88535"/>
              </p:ext>
            </p:extLst>
          </p:nvPr>
        </p:nvGraphicFramePr>
        <p:xfrm>
          <a:off x="3409314" y="1257299"/>
          <a:ext cx="8401686" cy="54792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0834">
                  <a:extLst>
                    <a:ext uri="{9D8B030D-6E8A-4147-A177-3AD203B41FA5}">
                      <a16:colId xmlns:a16="http://schemas.microsoft.com/office/drawing/2014/main" val="2250925430"/>
                    </a:ext>
                  </a:extLst>
                </a:gridCol>
                <a:gridCol w="2238004">
                  <a:extLst>
                    <a:ext uri="{9D8B030D-6E8A-4147-A177-3AD203B41FA5}">
                      <a16:colId xmlns:a16="http://schemas.microsoft.com/office/drawing/2014/main" val="1550834360"/>
                    </a:ext>
                  </a:extLst>
                </a:gridCol>
                <a:gridCol w="2121180">
                  <a:extLst>
                    <a:ext uri="{9D8B030D-6E8A-4147-A177-3AD203B41FA5}">
                      <a16:colId xmlns:a16="http://schemas.microsoft.com/office/drawing/2014/main" val="3865646456"/>
                    </a:ext>
                  </a:extLst>
                </a:gridCol>
                <a:gridCol w="1911668">
                  <a:extLst>
                    <a:ext uri="{9D8B030D-6E8A-4147-A177-3AD203B41FA5}">
                      <a16:colId xmlns:a16="http://schemas.microsoft.com/office/drawing/2014/main" val="577344730"/>
                    </a:ext>
                  </a:extLst>
                </a:gridCol>
              </a:tblGrid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 dirty="0">
                          <a:effectLst/>
                        </a:rPr>
                        <a:t>Touche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Fréquence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Fréquence détectée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Broche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2824365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Ré2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147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 ?</a:t>
                      </a:r>
                      <a:endParaRPr lang="fr-FR" sz="3200" b="1" dirty="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1323128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Mi2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 dirty="0">
                          <a:effectLst/>
                        </a:rPr>
                        <a:t>165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b="1" dirty="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3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0475531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Fa2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175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b="1" dirty="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4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9131712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Sol2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196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5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952932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La2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220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6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9071071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Si2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247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7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835003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Do3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262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8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9272436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Ré3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294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9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778951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Mi3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330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 dirty="0">
                          <a:effectLst/>
                        </a:rPr>
                        <a:t>10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4723780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8A0B2EC7-666E-48A5-A1A2-3EF22A306C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1805"/>
          <a:stretch/>
        </p:blipFill>
        <p:spPr>
          <a:xfrm>
            <a:off x="0" y="1552276"/>
            <a:ext cx="999153" cy="4982558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E5843E30-D0A5-4512-9A7B-72BCD79E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18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999152" y="263845"/>
            <a:ext cx="11021397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/>
              <a:t>Signal sinusoïdal entre 0V et 3V avec f=147 Hz:</a:t>
            </a:r>
          </a:p>
          <a:p>
            <a:pPr marL="530352" lvl="1" indent="0">
              <a:buNone/>
            </a:pPr>
            <a:endParaRPr lang="fr-FR" sz="3200" dirty="0"/>
          </a:p>
          <a:p>
            <a:pPr lvl="1"/>
            <a:endParaRPr lang="fr-FR" sz="32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43FB7DB-6DC1-4726-9D5F-00803C461B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97" r="57968"/>
          <a:stretch/>
        </p:blipFill>
        <p:spPr>
          <a:xfrm>
            <a:off x="866775" y="1552276"/>
            <a:ext cx="2162176" cy="4982558"/>
          </a:xfrm>
          <a:prstGeom prst="rect">
            <a:avLst/>
          </a:prstGeo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32A50DE0-2019-4A3C-AA25-19659C83D1BE}"/>
              </a:ext>
            </a:extLst>
          </p:cNvPr>
          <p:cNvSpPr/>
          <p:nvPr/>
        </p:nvSpPr>
        <p:spPr>
          <a:xfrm rot="5400000">
            <a:off x="2044352" y="862278"/>
            <a:ext cx="803338" cy="646331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B050"/>
              </a:solidFill>
            </a:endParaRP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DF9F82F1-B292-4722-90DC-F0E4614232EE}"/>
              </a:ext>
            </a:extLst>
          </p:cNvPr>
          <p:cNvSpPr/>
          <p:nvPr/>
        </p:nvSpPr>
        <p:spPr>
          <a:xfrm rot="5400000">
            <a:off x="1003677" y="861649"/>
            <a:ext cx="803338" cy="6463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A308769-C051-4AC5-9009-519B5DE5C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592107"/>
              </p:ext>
            </p:extLst>
          </p:nvPr>
        </p:nvGraphicFramePr>
        <p:xfrm>
          <a:off x="3409314" y="1257299"/>
          <a:ext cx="8401686" cy="54822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0834">
                  <a:extLst>
                    <a:ext uri="{9D8B030D-6E8A-4147-A177-3AD203B41FA5}">
                      <a16:colId xmlns:a16="http://schemas.microsoft.com/office/drawing/2014/main" val="2250925430"/>
                    </a:ext>
                  </a:extLst>
                </a:gridCol>
                <a:gridCol w="2238004">
                  <a:extLst>
                    <a:ext uri="{9D8B030D-6E8A-4147-A177-3AD203B41FA5}">
                      <a16:colId xmlns:a16="http://schemas.microsoft.com/office/drawing/2014/main" val="1550834360"/>
                    </a:ext>
                  </a:extLst>
                </a:gridCol>
                <a:gridCol w="2121180">
                  <a:extLst>
                    <a:ext uri="{9D8B030D-6E8A-4147-A177-3AD203B41FA5}">
                      <a16:colId xmlns:a16="http://schemas.microsoft.com/office/drawing/2014/main" val="3865646456"/>
                    </a:ext>
                  </a:extLst>
                </a:gridCol>
                <a:gridCol w="1911668">
                  <a:extLst>
                    <a:ext uri="{9D8B030D-6E8A-4147-A177-3AD203B41FA5}">
                      <a16:colId xmlns:a16="http://schemas.microsoft.com/office/drawing/2014/main" val="577344730"/>
                    </a:ext>
                  </a:extLst>
                </a:gridCol>
              </a:tblGrid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 dirty="0">
                          <a:effectLst/>
                        </a:rPr>
                        <a:t>Touche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Fréquence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Fréquence détectée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Broche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2824365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Ré2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147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 </a:t>
                      </a:r>
                      <a:endParaRPr lang="fr-FR" sz="3200" b="1" dirty="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1323128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Mi2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 dirty="0">
                          <a:effectLst/>
                        </a:rPr>
                        <a:t>165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dirty="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3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0475531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Fa2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175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b="1" dirty="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4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9131712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Sol2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196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5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952932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La2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220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6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9071071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Si2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247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7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835003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Do3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262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8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9272436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Ré3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294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9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778951"/>
                  </a:ext>
                </a:extLst>
              </a:tr>
              <a:tr h="488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Mi3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>
                          <a:effectLst/>
                        </a:rPr>
                        <a:t>330</a:t>
                      </a:r>
                      <a:endParaRPr lang="fr-FR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>
                          <a:effectLst/>
                        </a:rPr>
                        <a:t> </a:t>
                      </a:r>
                      <a:r>
                        <a:rPr lang="fr-FR" sz="3200" b="1" dirty="0">
                          <a:solidFill>
                            <a:srgbClr val="00B0F0"/>
                          </a:solidFill>
                          <a:effectLst/>
                        </a:rPr>
                        <a:t>?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3200" dirty="0">
                          <a:effectLst/>
                        </a:rPr>
                        <a:t>10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4723780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8A0B2EC7-666E-48A5-A1A2-3EF22A306C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1805"/>
          <a:stretch/>
        </p:blipFill>
        <p:spPr>
          <a:xfrm>
            <a:off x="0" y="1552276"/>
            <a:ext cx="999153" cy="4982558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4C648D5-EF18-43CB-BDD2-4EB253B6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67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747770" y="247311"/>
            <a:ext cx="11270059" cy="1245059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b="1" dirty="0">
                <a:solidFill>
                  <a:srgbClr val="00B050"/>
                </a:solidFill>
              </a:rPr>
              <a:t>DEUXIEME PARTIE </a:t>
            </a:r>
            <a:r>
              <a:rPr lang="fr-FR" sz="3200" b="1" dirty="0">
                <a:solidFill>
                  <a:srgbClr val="00B0F0"/>
                </a:solidFill>
              </a:rPr>
              <a:t>[Q7]</a:t>
            </a:r>
            <a:r>
              <a:rPr lang="fr-FR" sz="3200" b="1" dirty="0">
                <a:solidFill>
                  <a:srgbClr val="00B050"/>
                </a:solidFill>
              </a:rPr>
              <a:t>: Jouer un morceau de musique avec une carte Arduino UNO</a:t>
            </a: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lvl="1" algn="ctr">
              <a:buFont typeface="Wingdings" panose="05000000000000000000" pitchFamily="2" charset="2"/>
              <a:buChar char="è"/>
            </a:pPr>
            <a:endParaRPr lang="fr-FR" sz="8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 algn="ctr">
              <a:buFont typeface="Wingdings" panose="05000000000000000000" pitchFamily="2" charset="2"/>
              <a:buChar char="è"/>
            </a:pPr>
            <a:r>
              <a:rPr lang="fr-FR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Validation Intermédiaire [VI1.1]</a:t>
            </a:r>
          </a:p>
          <a:p>
            <a:pPr lvl="1" algn="ctr">
              <a:buFont typeface="Wingdings" panose="05000000000000000000" pitchFamily="2" charset="2"/>
              <a:buChar char="è"/>
            </a:pPr>
            <a:r>
              <a:rPr lang="fr-FR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Validation [V1]</a:t>
            </a:r>
            <a:endParaRPr lang="fr-FR" sz="32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299C5C-F4C0-48E7-877E-978811A6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100E245-633B-4BBE-89BF-BAEC5BC2F4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14956" y="1422461"/>
            <a:ext cx="5115560" cy="41338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08635AF-BBF1-08A0-28EC-24366A653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84" y="2915281"/>
            <a:ext cx="2667372" cy="245779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3FA8BFC-F328-F45C-2572-261B7D8A06B5}"/>
              </a:ext>
            </a:extLst>
          </p:cNvPr>
          <p:cNvSpPr txBox="1"/>
          <p:nvPr/>
        </p:nvSpPr>
        <p:spPr>
          <a:xfrm>
            <a:off x="750084" y="1714952"/>
            <a:ext cx="2882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0070C0"/>
                </a:solidFill>
              </a:rPr>
              <a:t>S’inspirer du montage proposé avec le buzzer pour jouer un morceau !</a:t>
            </a:r>
          </a:p>
          <a:p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B8D6271-F9BC-C413-1DC7-8380779E8261}"/>
              </a:ext>
            </a:extLst>
          </p:cNvPr>
          <p:cNvSpPr/>
          <p:nvPr/>
        </p:nvSpPr>
        <p:spPr>
          <a:xfrm>
            <a:off x="2544798" y="4268058"/>
            <a:ext cx="872658" cy="1200329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71D6284-7A74-76E5-6D0B-4759FE8AAC6D}"/>
              </a:ext>
            </a:extLst>
          </p:cNvPr>
          <p:cNvSpPr txBox="1"/>
          <p:nvPr/>
        </p:nvSpPr>
        <p:spPr>
          <a:xfrm>
            <a:off x="3557001" y="1658115"/>
            <a:ext cx="288250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b="1" dirty="0">
                <a:solidFill>
                  <a:srgbClr val="FF0000"/>
                </a:solidFill>
              </a:rPr>
              <a:t>+</a:t>
            </a:r>
          </a:p>
          <a:p>
            <a:pPr algn="ctr"/>
            <a:r>
              <a:rPr lang="fr-FR" b="1" dirty="0">
                <a:solidFill>
                  <a:srgbClr val="0070C0"/>
                </a:solidFill>
              </a:rPr>
              <a:t>Interruption </a:t>
            </a:r>
            <a:r>
              <a:rPr lang="fr-FR" b="1" dirty="0" err="1">
                <a:solidFill>
                  <a:srgbClr val="0070C0"/>
                </a:solidFill>
              </a:rPr>
              <a:t>Timer</a:t>
            </a:r>
            <a:r>
              <a:rPr lang="fr-FR" b="1" dirty="0">
                <a:solidFill>
                  <a:srgbClr val="0070C0"/>
                </a:solidFill>
              </a:rPr>
              <a:t> </a:t>
            </a:r>
            <a:r>
              <a:rPr lang="fr-FR" b="1" dirty="0">
                <a:solidFill>
                  <a:srgbClr val="FF0000"/>
                </a:solidFill>
              </a:rPr>
              <a:t>[R2.06]</a:t>
            </a:r>
            <a:endParaRPr lang="fr-FR" dirty="0">
              <a:solidFill>
                <a:srgbClr val="FF0000"/>
              </a:solidFill>
            </a:endParaRPr>
          </a:p>
          <a:p>
            <a:pPr algn="ctr"/>
            <a:endParaRPr lang="fr-FR" sz="1800" b="1" dirty="0">
              <a:solidFill>
                <a:srgbClr val="0070C0"/>
              </a:solidFill>
            </a:endParaRPr>
          </a:p>
          <a:p>
            <a:pPr algn="ctr"/>
            <a:r>
              <a:rPr lang="fr-FR" sz="8000" b="1" dirty="0">
                <a:solidFill>
                  <a:srgbClr val="FF0000"/>
                </a:solidFill>
              </a:rPr>
              <a:t>+</a:t>
            </a:r>
          </a:p>
          <a:p>
            <a:pPr algn="ctr"/>
            <a:r>
              <a:rPr lang="fr-FR" sz="1800" b="1" dirty="0">
                <a:solidFill>
                  <a:srgbClr val="0070C0"/>
                </a:solidFill>
              </a:rPr>
              <a:t>Equations différentielles d’un sinus </a:t>
            </a:r>
            <a:r>
              <a:rPr lang="fr-FR" sz="1800" b="1" dirty="0">
                <a:solidFill>
                  <a:srgbClr val="FF0000"/>
                </a:solidFill>
              </a:rPr>
              <a:t>[R2.13]</a:t>
            </a:r>
          </a:p>
        </p:txBody>
      </p:sp>
      <p:sp>
        <p:nvSpPr>
          <p:cNvPr id="11" name="Accolade fermante 10">
            <a:extLst>
              <a:ext uri="{FF2B5EF4-FFF2-40B4-BE49-F238E27FC236}">
                <a16:creationId xmlns:a16="http://schemas.microsoft.com/office/drawing/2014/main" id="{DDFF8342-95AF-58E4-61D8-B076BF36C1CF}"/>
              </a:ext>
            </a:extLst>
          </p:cNvPr>
          <p:cNvSpPr/>
          <p:nvPr/>
        </p:nvSpPr>
        <p:spPr>
          <a:xfrm>
            <a:off x="6262035" y="1387957"/>
            <a:ext cx="604597" cy="4219216"/>
          </a:xfrm>
          <a:prstGeom prst="rightBrac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890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747770" y="247311"/>
            <a:ext cx="11270059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b="1" dirty="0">
                <a:solidFill>
                  <a:srgbClr val="00B050"/>
                </a:solidFill>
              </a:rPr>
              <a:t>TROISIEME PARTIE </a:t>
            </a:r>
            <a:r>
              <a:rPr lang="fr-FR" sz="3200" b="1" dirty="0">
                <a:solidFill>
                  <a:srgbClr val="00B0F0"/>
                </a:solidFill>
              </a:rPr>
              <a:t>[Q8]</a:t>
            </a:r>
            <a:r>
              <a:rPr lang="fr-FR" sz="3200" b="1" dirty="0">
                <a:solidFill>
                  <a:srgbClr val="00B050"/>
                </a:solidFill>
              </a:rPr>
              <a:t>: Jouer au piano avec une carte Arduino UNO</a:t>
            </a: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fr-FR" sz="3200" b="1" i="1" dirty="0">
                <a:solidFill>
                  <a:srgbClr val="FF0000"/>
                </a:solidFill>
                <a:sym typeface="Wingdings" panose="05000000000000000000" pitchFamily="2" charset="2"/>
              </a:rPr>
              <a:t> Validation [V2]</a:t>
            </a: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530352" lvl="1" indent="0">
              <a:buNone/>
            </a:pPr>
            <a:endParaRPr lang="fr-FR" sz="32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299C5C-F4C0-48E7-877E-978811A6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13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2C5BE65-F53B-409B-9828-AF6F6817C2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15640" y="1314678"/>
            <a:ext cx="5760720" cy="450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670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730517" y="0"/>
            <a:ext cx="11270059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b="1" dirty="0">
                <a:solidFill>
                  <a:srgbClr val="00B050"/>
                </a:solidFill>
              </a:rPr>
              <a:t>FINALITE </a:t>
            </a:r>
            <a:r>
              <a:rPr lang="fr-FR" sz="3200" b="1" dirty="0">
                <a:solidFill>
                  <a:srgbClr val="00B0F0"/>
                </a:solidFill>
              </a:rPr>
              <a:t>[Q9]</a:t>
            </a:r>
            <a:r>
              <a:rPr lang="fr-FR" sz="3200" b="1" dirty="0">
                <a:solidFill>
                  <a:srgbClr val="00B050"/>
                </a:solidFill>
              </a:rPr>
              <a:t>: Jouer au piano avec une carte Arduino UNO et reconnaitre les notes</a:t>
            </a:r>
          </a:p>
          <a:p>
            <a:pPr marL="0" indent="0" algn="ctr">
              <a:buNone/>
            </a:pPr>
            <a:endParaRPr lang="fr-FR" sz="3200" b="1" dirty="0">
              <a:solidFill>
                <a:srgbClr val="00B050"/>
              </a:solidFill>
            </a:endParaRPr>
          </a:p>
          <a:p>
            <a:pPr marL="530352" lvl="1" indent="0">
              <a:buNone/>
            </a:pPr>
            <a:endParaRPr lang="fr-FR" sz="3200" dirty="0"/>
          </a:p>
          <a:p>
            <a:pPr marL="530352" lvl="1" indent="0">
              <a:buNone/>
            </a:pPr>
            <a:endParaRPr lang="fr-FR" sz="3200" dirty="0"/>
          </a:p>
          <a:p>
            <a:pPr marL="530352" lvl="1" indent="0">
              <a:buNone/>
            </a:pPr>
            <a:endParaRPr lang="fr-FR" sz="3200" dirty="0"/>
          </a:p>
          <a:p>
            <a:pPr marL="530352" lvl="1" indent="0">
              <a:buNone/>
            </a:pPr>
            <a:endParaRPr lang="fr-FR" sz="3200" dirty="0"/>
          </a:p>
          <a:p>
            <a:pPr marL="530352" lvl="1" indent="0">
              <a:buNone/>
            </a:pPr>
            <a:endParaRPr lang="fr-FR" sz="3200" dirty="0"/>
          </a:p>
          <a:p>
            <a:pPr marL="530352" lvl="1" indent="0">
              <a:buNone/>
            </a:pPr>
            <a:endParaRPr lang="fr-FR" sz="3200" dirty="0"/>
          </a:p>
          <a:p>
            <a:pPr marL="530352" lvl="1" indent="0">
              <a:buNone/>
            </a:pPr>
            <a:endParaRPr lang="fr-FR" sz="3200" dirty="0"/>
          </a:p>
          <a:p>
            <a:pPr marL="530352" lvl="1" indent="0">
              <a:buNone/>
            </a:pPr>
            <a:endParaRPr lang="fr-FR" sz="1000" b="1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530352" lvl="1" indent="0" algn="ctr">
              <a:buNone/>
            </a:pPr>
            <a:r>
              <a:rPr lang="fr-FR" sz="3200" b="1" i="1" dirty="0">
                <a:solidFill>
                  <a:srgbClr val="FF0000"/>
                </a:solidFill>
                <a:sym typeface="Wingdings" panose="05000000000000000000" pitchFamily="2" charset="2"/>
              </a:rPr>
              <a:t> Validation [V3]</a:t>
            </a:r>
          </a:p>
          <a:p>
            <a:pPr marL="530352" lvl="1" indent="0" algn="ctr">
              <a:buNone/>
            </a:pPr>
            <a:r>
              <a:rPr lang="fr-FR" sz="3200" b="1" i="1" dirty="0">
                <a:solidFill>
                  <a:srgbClr val="FF0000"/>
                </a:solidFill>
                <a:sym typeface="Wingdings" panose="05000000000000000000" pitchFamily="2" charset="2"/>
              </a:rPr>
              <a:t> Validation [V4]</a:t>
            </a:r>
          </a:p>
          <a:p>
            <a:pPr marL="530352" lvl="1" indent="0">
              <a:buNone/>
            </a:pPr>
            <a:endParaRPr lang="fr-FR" sz="32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299C5C-F4C0-48E7-877E-978811A6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14</a:t>
            </a:fld>
            <a:endParaRPr lang="en-US" dirty="0"/>
          </a:p>
        </p:txBody>
      </p:sp>
      <p:pic>
        <p:nvPicPr>
          <p:cNvPr id="4" name="Image 3" descr="Une image contenant texte, diagramme, Ingénierie électronique, Appareils électroniques&#10;&#10;Description générée automatiquement">
            <a:extLst>
              <a:ext uri="{FF2B5EF4-FFF2-40B4-BE49-F238E27FC236}">
                <a16:creationId xmlns:a16="http://schemas.microsoft.com/office/drawing/2014/main" id="{DAD99F6B-A4F4-41FA-B914-5B6A8BD2C3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15640" y="978260"/>
            <a:ext cx="5760720" cy="465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1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999152" y="263845"/>
            <a:ext cx="11088073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/>
              <a:t>Comment vous allez être évalués ?</a:t>
            </a:r>
          </a:p>
          <a:p>
            <a:pPr lvl="1"/>
            <a:r>
              <a:rPr lang="fr-FR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Une note des validations sur 30 points:</a:t>
            </a:r>
          </a:p>
          <a:p>
            <a:pPr lvl="0"/>
            <a:endParaRPr lang="fr-FR" dirty="0"/>
          </a:p>
          <a:p>
            <a:pPr marL="0" lvl="0" indent="0">
              <a:buNone/>
            </a:pPr>
            <a:endParaRPr lang="fr-FR" dirty="0"/>
          </a:p>
          <a:p>
            <a:pPr lvl="0"/>
            <a:endParaRPr lang="fr-FR" dirty="0"/>
          </a:p>
          <a:p>
            <a:pPr marL="530352" lvl="1" indent="0" algn="just">
              <a:buNone/>
            </a:pPr>
            <a:endParaRPr lang="fr-FR" sz="3200" b="1" dirty="0">
              <a:solidFill>
                <a:srgbClr val="00B0F0"/>
              </a:solidFill>
              <a:sym typeface="Wingdings" panose="05000000000000000000" pitchFamily="2" charset="2"/>
            </a:endParaRPr>
          </a:p>
          <a:p>
            <a:pPr marL="530352" lvl="1" indent="0" algn="just">
              <a:buNone/>
            </a:pPr>
            <a:r>
              <a:rPr lang="fr-FR" sz="3200" b="1" dirty="0">
                <a:solidFill>
                  <a:srgbClr val="00B0F0"/>
                </a:solidFill>
                <a:sym typeface="Wingdings" panose="05000000000000000000" pitchFamily="2" charset="2"/>
              </a:rPr>
              <a:t>Les validations seront faites en priorité lors des séances encadrées.</a:t>
            </a:r>
          </a:p>
          <a:p>
            <a:pPr marL="530352" lvl="1" indent="0" algn="just">
              <a:buNone/>
            </a:pPr>
            <a:r>
              <a:rPr lang="fr-FR" sz="3200" b="1" dirty="0">
                <a:solidFill>
                  <a:srgbClr val="00B0F0"/>
                </a:solidFill>
                <a:sym typeface="Wingdings" panose="05000000000000000000" pitchFamily="2" charset="2"/>
              </a:rPr>
              <a:t>Sinon, du fait de l’organisation des séances dans l’</a:t>
            </a:r>
            <a:r>
              <a:rPr lang="fr-FR" sz="3200" b="1" dirty="0" err="1">
                <a:solidFill>
                  <a:srgbClr val="00B0F0"/>
                </a:solidFill>
                <a:sym typeface="Wingdings" panose="05000000000000000000" pitchFamily="2" charset="2"/>
              </a:rPr>
              <a:t>EdT</a:t>
            </a:r>
            <a:r>
              <a:rPr lang="fr-FR" sz="3200" b="1" dirty="0">
                <a:solidFill>
                  <a:srgbClr val="00B0F0"/>
                </a:solidFill>
                <a:sym typeface="Wingdings" panose="05000000000000000000" pitchFamily="2" charset="2"/>
              </a:rPr>
              <a:t> pour valider, vous pouvez p</a:t>
            </a:r>
            <a:r>
              <a:rPr lang="fr-FR" sz="3000" b="1" dirty="0">
                <a:solidFill>
                  <a:srgbClr val="00B0F0"/>
                </a:solidFill>
                <a:sym typeface="Wingdings" panose="05000000000000000000" pitchFamily="2" charset="2"/>
              </a:rPr>
              <a:t>rendre RDV avec un de nous deux.</a:t>
            </a:r>
          </a:p>
          <a:p>
            <a:pPr marL="530352" lvl="1" indent="0" algn="just">
              <a:buNone/>
            </a:pPr>
            <a:endParaRPr lang="fr-FR" sz="3000" b="1" dirty="0">
              <a:solidFill>
                <a:srgbClr val="00B0F0"/>
              </a:solidFill>
              <a:sym typeface="Wingdings" panose="05000000000000000000" pitchFamily="2" charset="2"/>
            </a:endParaRPr>
          </a:p>
          <a:p>
            <a:pPr lvl="1" algn="just"/>
            <a:r>
              <a:rPr lang="fr-FR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Une note individuelle de test pratique (</a:t>
            </a:r>
            <a:r>
              <a:rPr lang="fr-FR" sz="28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Tinkercad</a:t>
            </a:r>
            <a:r>
              <a:rPr lang="fr-FR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).</a:t>
            </a:r>
          </a:p>
          <a:p>
            <a:pPr lvl="1" algn="just"/>
            <a:r>
              <a:rPr lang="fr-FR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Une note individuelle issue d’un questionnaire (Moodle).</a:t>
            </a:r>
            <a:endParaRPr lang="fr-FR" sz="2800" dirty="0">
              <a:solidFill>
                <a:srgbClr val="FF0000"/>
              </a:solidFill>
            </a:endParaRPr>
          </a:p>
          <a:p>
            <a:pPr marL="530352" lvl="1" indent="0" algn="just">
              <a:buNone/>
            </a:pPr>
            <a:endParaRPr lang="fr-FR" sz="3000" b="1" dirty="0">
              <a:solidFill>
                <a:srgbClr val="00B0F0"/>
              </a:solidFill>
              <a:sym typeface="Wingdings" panose="05000000000000000000" pitchFamily="2" charset="2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96D5E6-47DF-46AC-8BBD-C037AB149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9A20261-1F37-4C56-A90E-4198DC9C9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552" y="1356227"/>
            <a:ext cx="6249272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8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33554967-586D-4059-B31C-41E52519AEE1}"/>
              </a:ext>
            </a:extLst>
          </p:cNvPr>
          <p:cNvSpPr txBox="1">
            <a:spLocks/>
          </p:cNvSpPr>
          <p:nvPr/>
        </p:nvSpPr>
        <p:spPr>
          <a:xfrm>
            <a:off x="999152" y="263845"/>
            <a:ext cx="11088073" cy="63633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/>
              <a:t>Certaines parties peuvent être menées en parallèle dans le binôme…</a:t>
            </a:r>
          </a:p>
          <a:p>
            <a:r>
              <a:rPr lang="fr-FR" sz="3200" dirty="0"/>
              <a:t>Séquencement de la SAE:</a:t>
            </a:r>
          </a:p>
          <a:p>
            <a:pPr lvl="1"/>
            <a:r>
              <a:rPr lang="fr-FR" sz="3200" b="1" i="0" dirty="0">
                <a:solidFill>
                  <a:srgbClr val="00B050"/>
                </a:solidFill>
              </a:rPr>
              <a:t>1 CM encadré: présentation</a:t>
            </a:r>
          </a:p>
          <a:p>
            <a:pPr lvl="1"/>
            <a:r>
              <a:rPr lang="fr-FR" sz="3200" b="1" i="0" dirty="0">
                <a:solidFill>
                  <a:srgbClr val="00B050"/>
                </a:solidFill>
              </a:rPr>
              <a:t>1 TD encadré</a:t>
            </a:r>
          </a:p>
          <a:p>
            <a:pPr lvl="1"/>
            <a:r>
              <a:rPr lang="fr-FR" sz="3200" dirty="0">
                <a:solidFill>
                  <a:srgbClr val="FFC000"/>
                </a:solidFill>
              </a:rPr>
              <a:t>2 TP en autonomie</a:t>
            </a:r>
          </a:p>
          <a:p>
            <a:pPr lvl="1"/>
            <a:r>
              <a:rPr lang="fr-FR" sz="3200" dirty="0">
                <a:solidFill>
                  <a:srgbClr val="00B050"/>
                </a:solidFill>
              </a:rPr>
              <a:t>1 TP encadré</a:t>
            </a:r>
          </a:p>
          <a:p>
            <a:pPr lvl="1"/>
            <a:r>
              <a:rPr lang="fr-FR" sz="3200" dirty="0">
                <a:solidFill>
                  <a:srgbClr val="FFC000"/>
                </a:solidFill>
              </a:rPr>
              <a:t>1 TP en autonomie</a:t>
            </a:r>
          </a:p>
          <a:p>
            <a:pPr lvl="1"/>
            <a:r>
              <a:rPr lang="fr-FR" sz="3200" b="1" i="0" dirty="0">
                <a:solidFill>
                  <a:srgbClr val="00B050"/>
                </a:solidFill>
              </a:rPr>
              <a:t>1 TP encadré: TEST individuel</a:t>
            </a:r>
          </a:p>
          <a:p>
            <a:pPr lvl="1"/>
            <a:endParaRPr lang="fr-FR" sz="3200" b="1" dirty="0">
              <a:solidFill>
                <a:srgbClr val="00B050"/>
              </a:solidFill>
            </a:endParaRPr>
          </a:p>
          <a:p>
            <a:pPr marL="530352" lvl="1" indent="0" algn="ctr">
              <a:buNone/>
            </a:pPr>
            <a:r>
              <a:rPr lang="fr-FR" sz="7200" b="1" dirty="0">
                <a:solidFill>
                  <a:srgbClr val="FF0000"/>
                </a:solidFill>
              </a:rPr>
              <a:t>ENJOY ;-) </a:t>
            </a:r>
          </a:p>
          <a:p>
            <a:pPr lvl="1"/>
            <a:endParaRPr lang="fr-FR" sz="32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1392E7E-D3F6-48A7-B208-1AF0B7C31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136458"/>
      </p:ext>
    </p:extLst>
  </p:cSld>
  <p:clrMapOvr>
    <a:masterClrMapping/>
  </p:clrMapOvr>
</p:sld>
</file>

<file path=ppt/theme/theme1.xml><?xml version="1.0" encoding="utf-8"?>
<a:theme xmlns:a="http://schemas.openxmlformats.org/drawingml/2006/main" name="Rognage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TM10001105[[fn=Cadrage]]</Template>
  <TotalTime>545</TotalTime>
  <Words>632</Words>
  <Application>Microsoft Office PowerPoint</Application>
  <PresentationFormat>Grand écran</PresentationFormat>
  <Paragraphs>217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Calibri</vt:lpstr>
      <vt:lpstr>Franklin Gothic Book</vt:lpstr>
      <vt:lpstr>Wingdings</vt:lpstr>
      <vt:lpstr>Rognage</vt:lpstr>
      <vt:lpstr>SAE2.02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SAE2.02</dc:title>
  <dc:creator>Laurent</dc:creator>
  <cp:lastModifiedBy>Laurent MURA</cp:lastModifiedBy>
  <cp:revision>95</cp:revision>
  <dcterms:created xsi:type="dcterms:W3CDTF">2023-05-06T04:46:48Z</dcterms:created>
  <dcterms:modified xsi:type="dcterms:W3CDTF">2024-05-23T15:28:44Z</dcterms:modified>
</cp:coreProperties>
</file>